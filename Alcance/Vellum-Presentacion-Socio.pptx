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395728"/>
            <a:ext cx="502920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7200" y="25420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de gobernanza de la IA corporativa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09067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el uso de la inteligencia artificial en un activo estratégico: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gobernado, trazable y listo para la gran empresa.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Jimmy Pimiento  ·  Junio 2026  ·  Confidencial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PUNTO DE PARTIDA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IA ya está dentro de las empresas. El control, no.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usa ChatGPT, Copilot o Gemini por su cuenta. Funciona… hasta que alguien pregunta quién está usando qué, con qué datos y con qué resultado. Hoy nadie puede responder.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64008" cy="1143000"/>
          </a:xfrm>
          <a:prstGeom prst="rect">
            <a:avLst/>
          </a:prstGeom>
          <a:solidFill>
            <a:srgbClr val="E8950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49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Prompts dispersos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56032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vive en chats personales, notas y correos. Cuando alguien se va, se pierde.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03120"/>
            <a:ext cx="64008" cy="1143000"/>
          </a:xfrm>
          <a:prstGeom prst="rect">
            <a:avLst/>
          </a:prstGeom>
          <a:solidFill>
            <a:srgbClr val="E8950C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249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Cero trazabilidad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56032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quién ejecutó qué, con qué versión, ni qué respondió el modelo.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01568"/>
            <a:ext cx="64008" cy="1143000"/>
          </a:xfrm>
          <a:prstGeom prst="rect">
            <a:avLst/>
          </a:prstGeom>
          <a:solidFill>
            <a:srgbClr val="E8950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sensibles expuestos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8587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confidencial pegada en herramientas de consumo, fuera de toda política.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3401568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401568"/>
            <a:ext cx="64008" cy="1143000"/>
          </a:xfrm>
          <a:prstGeom prst="rect">
            <a:avLst/>
          </a:prstGeom>
          <a:solidFill>
            <a:srgbClr val="E8950C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Esfuerzo duplicado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38587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reinventa los mismos prompts una y otra vez, sin reutilización real.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Adopción sin gobernanza: caos con apariencia de productividad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502920" cy="50292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88" y="1580540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8988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Fragmentación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60520" y="137160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empleado y cada equipo trabaja aislado. No existe un lugar único donde viva el conocimiento de IA de la organización.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8229600" cy="0"/>
          </a:xfrm>
          <a:prstGeom prst="line">
            <a:avLst/>
          </a:prstGeom>
          <a:noFill/>
          <a:ln w="12700">
            <a:solidFill>
              <a:srgbClr val="D9E4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313432"/>
            <a:ext cx="502920" cy="50292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88" y="2449220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2585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gobernanza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160520" y="22402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validación, aprobación ni control de calidad. Cualquier prompt, bueno o pésimo, llega igual a producción.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12700">
            <a:solidFill>
              <a:srgbClr val="D9E4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182112"/>
            <a:ext cx="502920" cy="50292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" y="3317900"/>
            <a:ext cx="231343" cy="231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1272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Ineficiencia estructural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160520" y="310896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entre un 20% y un 40% del tiempo en tareas repetitivas que la IA ya podría resolver de forma sistemática.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3886200"/>
            <a:ext cx="8229600" cy="0"/>
          </a:xfrm>
          <a:prstGeom prst="line">
            <a:avLst/>
          </a:prstGeom>
          <a:noFill/>
          <a:ln w="12700">
            <a:solidFill>
              <a:srgbClr val="D9E4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4050792"/>
            <a:ext cx="502920" cy="50292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" y="4186580"/>
            <a:ext cx="231343" cy="231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9959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Riesgo regulatorio y de seguridad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160520" y="397764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indebido de datos, outputs sin control y cero capacidad de auditoría: un problema serio cuando llegue la pregunta del regulador.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OPORTUNIDAD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no es la IA.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 cómo se usa dentro de la organización.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97280" y="2971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convierte los prompts en un activo corporativo gestionado —versionado, aprobado y auditado— convierte el caos en una capacidad estratégica. Eso es exactamente lo que hace Vellum.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2423160" cy="457200"/>
          </a:xfrm>
          <a:prstGeom prst="roundRect">
            <a:avLst>
              <a:gd name="adj" fmla="val 20000"/>
            </a:avLst>
          </a:prstGeom>
          <a:solidFill>
            <a:srgbClr val="13283F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Industrializar el uso de IA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03320" y="3977640"/>
            <a:ext cx="2423160" cy="457200"/>
          </a:xfrm>
          <a:prstGeom prst="roundRect">
            <a:avLst>
              <a:gd name="adj" fmla="val 20000"/>
            </a:avLst>
          </a:prstGeom>
          <a:solidFill>
            <a:srgbClr val="13283F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buenas prácticas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37960" y="3977640"/>
            <a:ext cx="2423160" cy="457200"/>
          </a:xfrm>
          <a:prstGeom prst="roundRect">
            <a:avLst>
              <a:gd name="adj" fmla="val 20000"/>
            </a:avLst>
          </a:prstGeom>
          <a:solidFill>
            <a:srgbClr val="13283F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reutilizable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PRODUCTO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Vellum: el plano de control de la IA corporativa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centralizada donde los prompts se crean, se versionan, se aprueban y se ejecutan de forma controlada — y donde cada ejecución queda registrada e integrada con los sistemas de la empresa.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4069080" cy="2468880"/>
          </a:xfrm>
          <a:prstGeom prst="rect">
            <a:avLst/>
          </a:prstGeom>
          <a:solidFill>
            <a:srgbClr val="FBF1F0"/>
          </a:solidFill>
          <a:ln w="12700">
            <a:solidFill>
              <a:srgbClr val="E5C9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3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NO ES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70048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633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chatbot corporativo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12724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3090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wrapper de ChatGPT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584448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aislada más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41648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experimento de innovación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617720" y="2057400"/>
            <a:ext cx="4069080" cy="2468880"/>
          </a:xfrm>
          <a:prstGeom prst="rect">
            <a:avLst/>
          </a:prstGeom>
          <a:solidFill>
            <a:srgbClr val="E9F5F2"/>
          </a:solidFill>
          <a:ln w="12700">
            <a:solidFill>
              <a:srgbClr val="BFE0D8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489204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SÍ ES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2670048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208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del ciclo de vida completo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127248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12080" y="3090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controlada vía API</a:t>
            </a:r>
            <a:endParaRPr lang="en-US" sz="13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3584448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12080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auditoría total</a:t>
            </a:r>
            <a:endParaRPr lang="en-US" sz="13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4041648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12080" y="4005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integración con la empresa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FUNCIONA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borrador al sistema corporativo, en cinco pasos gobernados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5727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828800"/>
            <a:ext cx="566928" cy="566928"/>
          </a:xfrm>
          <a:prstGeom prst="ellipse">
            <a:avLst/>
          </a:prstGeom>
          <a:solidFill>
            <a:srgbClr val="0E98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" y="1970532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254203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Crear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2871216"/>
            <a:ext cx="1353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experto redacta y documenta el prompt en la plataforma.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993392" y="24688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212848" y="1600200"/>
            <a:ext cx="15727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15768" y="1828800"/>
            <a:ext cx="566928" cy="566928"/>
          </a:xfrm>
          <a:prstGeom prst="ellipse">
            <a:avLst/>
          </a:prstGeom>
          <a:solidFill>
            <a:srgbClr val="0E98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970532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86000" y="254203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Versionar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322576" y="2871216"/>
            <a:ext cx="1353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genera una versión inmutable. Nada se sobrescribe.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749040" y="24688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3968496" y="1600200"/>
            <a:ext cx="15727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471416" y="1828800"/>
            <a:ext cx="566928" cy="566928"/>
          </a:xfrm>
          <a:prstGeom prst="ellipse">
            <a:avLst/>
          </a:prstGeom>
          <a:solidFill>
            <a:srgbClr val="0E988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148" y="1970532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041648" y="254203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Aprobar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078224" y="2871216"/>
            <a:ext cx="1353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responsable lo valida antes de que pueda usarse en producción.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504688" y="24688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5724144" y="1600200"/>
            <a:ext cx="15727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227064" y="1828800"/>
            <a:ext cx="566928" cy="566928"/>
          </a:xfrm>
          <a:prstGeom prst="ellipse">
            <a:avLst/>
          </a:prstGeom>
          <a:solidFill>
            <a:srgbClr val="0E9888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96" y="1970532"/>
            <a:ext cx="283464" cy="2834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797296" y="254203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Ejecutar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833872" y="2871216"/>
            <a:ext cx="1353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y sistemas lo invocan vía API, con permisos y registro.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260336" y="24688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4"/>
          <p:cNvSpPr/>
          <p:nvPr/>
        </p:nvSpPr>
        <p:spPr>
          <a:xfrm>
            <a:off x="7479792" y="1600200"/>
            <a:ext cx="15727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982712" y="1828800"/>
            <a:ext cx="566928" cy="566928"/>
          </a:xfrm>
          <a:prstGeom prst="ellipse">
            <a:avLst/>
          </a:prstGeom>
          <a:solidFill>
            <a:srgbClr val="0E9888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444" y="1970532"/>
            <a:ext cx="283464" cy="28346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552944" y="254203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Integrar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7589520" y="2871216"/>
            <a:ext cx="1353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se publica solo: Confluence, Slack, SharePoint…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457200" y="4160520"/>
            <a:ext cx="8266176" cy="50292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6" name="Text 29"/>
          <p:cNvSpPr/>
          <p:nvPr/>
        </p:nvSpPr>
        <p:spPr>
          <a:xfrm>
            <a:off x="68580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clave: </a:t>
            </a:r>
            <a:pPr indent="0" marL="0">
              <a:buNone/>
            </a:pPr>
            <a:r>
              <a:rPr lang="en-US" sz="12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sistema ejecuta prompts libres. Solo versiones aprobadas, con permisos y con registro de cada operación.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CAPACIDADES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plataforma completa, no una función suelta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700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627632"/>
            <a:ext cx="420624" cy="420624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60" y="1741200"/>
            <a:ext cx="193487" cy="1934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627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y versionado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215798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corporativa de prompts con historial completo e inmutable.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10128" y="1463040"/>
            <a:ext cx="26700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627632"/>
            <a:ext cx="420624" cy="420624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288" y="1741200"/>
            <a:ext cx="193487" cy="1934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68496" y="1627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Gobernanza y roles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93008" y="215798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Editores, aprobadores, administradores y consumidores. Flujos de aprobación.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63056" y="1463040"/>
            <a:ext cx="26700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27648" y="1627632"/>
            <a:ext cx="420624" cy="420624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216" y="1741200"/>
            <a:ext cx="193487" cy="1934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21424" y="1627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Ejecución controlada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45936" y="215798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con permisos, validación de inputs y resultados trazables.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" y="3063240"/>
            <a:ext cx="26700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1792" y="3227832"/>
            <a:ext cx="420624" cy="420624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60" y="3341400"/>
            <a:ext cx="193487" cy="1934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15568" y="32278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Transcripciones (ASR)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375818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la grabación de una reunión y conviértela en activo procesable.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310128" y="3063240"/>
            <a:ext cx="26700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74720" y="3227832"/>
            <a:ext cx="420624" cy="420624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288" y="3341400"/>
            <a:ext cx="193487" cy="19348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68496" y="32278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Conectores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3493008" y="375818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publicados automáticamente en los sistemas que ya usa la empresa.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163056" y="3063240"/>
            <a:ext cx="26700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327648" y="3227832"/>
            <a:ext cx="420624" cy="420624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216" y="3341400"/>
            <a:ext cx="193487" cy="19348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21424" y="32278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Observabilidad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345936" y="375818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uso, coste por ejecución y auditoría de cada operación.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EJEMPLO REAL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la reunión grabada a la minuta publicada, sin tocar nada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20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783080"/>
            <a:ext cx="548640" cy="548640"/>
          </a:xfrm>
          <a:prstGeom prst="ellipse">
            <a:avLst/>
          </a:prstGeom>
          <a:solidFill>
            <a:srgbClr val="3D5A7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9202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468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Grabación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79806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audio de la reunión entra por webhook o subida directa.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359152" y="24231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606040" y="1554480"/>
            <a:ext cx="1920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783080"/>
            <a:ext cx="548640" cy="548640"/>
          </a:xfrm>
          <a:prstGeom prst="ellipse">
            <a:avLst/>
          </a:prstGeom>
          <a:solidFill>
            <a:srgbClr val="3D5A7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202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97480" y="2468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Transcripción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743200" y="279806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worker la transcribe (Whisper / Azure Speech) y la versiona.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507992" y="24231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4754880" y="1554480"/>
            <a:ext cx="1920240" cy="224028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40680" y="1783080"/>
            <a:ext cx="548640" cy="548640"/>
          </a:xfrm>
          <a:prstGeom prst="ellipse">
            <a:avLst/>
          </a:prstGeom>
          <a:solidFill>
            <a:srgbClr val="0E988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9202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2468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aprobado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892040" y="279806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el prompt corporativo de minutas: acuerdos, tareas, riesgos.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656832" y="24231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6903720" y="1554480"/>
            <a:ext cx="1920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589520" y="1783080"/>
            <a:ext cx="548640" cy="548640"/>
          </a:xfrm>
          <a:prstGeom prst="ellipse">
            <a:avLst/>
          </a:prstGeom>
          <a:solidFill>
            <a:srgbClr val="3D5A7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92024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95160" y="2468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Publicación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040880" y="2798064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minuta aparece en Confluence y se notifica por Slack. Automático.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motor, otros casos: </a:t>
            </a:r>
            <a:pPr indent="0" marL="0">
              <a:buNone/>
            </a:pPr>
            <a:r>
              <a:rPr lang="en-US" sz="12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periódicos, análisis de tickets, documentación técnica, resúmenes de incidencias… cualquier proceso repetitivo con lenguaje.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DÓNDE SE VENDE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área de la empresa tiene un caso de uso desde el día uno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8424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1984248" cy="82296"/>
          </a:xfrm>
          <a:prstGeom prst="rect">
            <a:avLst/>
          </a:prstGeom>
          <a:solidFill>
            <a:srgbClr val="0E9888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" y="1719072"/>
            <a:ext cx="548640" cy="54864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709" y="1867205"/>
            <a:ext cx="252374" cy="2523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395728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Operaciones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27889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automáticos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incidencias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de reuniones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24328" y="1463040"/>
            <a:ext cx="198424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24328" y="1463040"/>
            <a:ext cx="1984248" cy="82296"/>
          </a:xfrm>
          <a:prstGeom prst="rect">
            <a:avLst/>
          </a:prstGeom>
          <a:solidFill>
            <a:srgbClr val="0E9888"/>
          </a:solidFill>
          <a:ln/>
        </p:spPr>
      </p:sp>
      <p:sp>
        <p:nvSpPr>
          <p:cNvPr id="14" name="Shape 11"/>
          <p:cNvSpPr/>
          <p:nvPr/>
        </p:nvSpPr>
        <p:spPr>
          <a:xfrm>
            <a:off x="3346704" y="1719072"/>
            <a:ext cx="548640" cy="54864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837" y="1867205"/>
            <a:ext cx="252374" cy="2523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15768" y="2395728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Atención al cliente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2825496" y="27889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asistidas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tickets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patrones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91456" y="1463040"/>
            <a:ext cx="198424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91456" y="1463040"/>
            <a:ext cx="1984248" cy="82296"/>
          </a:xfrm>
          <a:prstGeom prst="rect">
            <a:avLst/>
          </a:prstGeom>
          <a:solidFill>
            <a:srgbClr val="0E9888"/>
          </a:solidFill>
          <a:ln/>
        </p:spPr>
      </p:sp>
      <p:sp>
        <p:nvSpPr>
          <p:cNvPr id="20" name="Shape 16"/>
          <p:cNvSpPr/>
          <p:nvPr/>
        </p:nvSpPr>
        <p:spPr>
          <a:xfrm>
            <a:off x="5513832" y="1719072"/>
            <a:ext cx="548640" cy="54864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965" y="1867205"/>
            <a:ext cx="252374" cy="25237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82896" y="2395728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4992624" y="27889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logs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asistidos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958584" y="1463040"/>
            <a:ext cx="198424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958584" y="1463040"/>
            <a:ext cx="1984248" cy="82296"/>
          </a:xfrm>
          <a:prstGeom prst="rect">
            <a:avLst/>
          </a:prstGeom>
          <a:solidFill>
            <a:srgbClr val="0E9888"/>
          </a:solidFill>
          <a:ln/>
        </p:spPr>
      </p:sp>
      <p:sp>
        <p:nvSpPr>
          <p:cNvPr id="26" name="Shape 21"/>
          <p:cNvSpPr/>
          <p:nvPr/>
        </p:nvSpPr>
        <p:spPr>
          <a:xfrm>
            <a:off x="7680960" y="1719072"/>
            <a:ext cx="548640" cy="54864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93" y="1867205"/>
            <a:ext cx="252374" cy="25237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50024" y="2395728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Negocio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159752" y="27889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contenido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a decisiones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Beneficios que un director financiero entiende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8191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20–40%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2514600" y="1581912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en tareas repetitivas
</a:t>
            </a:r>
            <a:pPr indent="0" marL="0">
              <a:buNone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sistemática de procesos con lenguaje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58191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+50%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6812280" y="1581912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duplicidad de esfuerzo
</a:t>
            </a:r>
            <a:pPr indent="0" marL="0">
              <a:buNone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prompts se reutilizan entre equipos en vez de reinventarse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44952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209544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2514600" y="3209544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ejecuciones auditables
</a:t>
            </a:r>
            <a:pPr indent="0" marL="0">
              <a:buNone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quién, qué, cuándo, con qué versión y a qué coste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044952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209544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€/uso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6812280" y="3209544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visible por ejecución
</a:t>
            </a:r>
            <a:pPr indent="0" marL="0">
              <a:buNone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real del gasto en IA por equipo y por proceso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Estimaciones del business case sobre casos de uso de automatización documental y operativa.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 II · LA TECNOLOGÍA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Esto no es un prototipo.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ingeniería diseñada desde el día uno para la gran empresa: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capas, escalable, resiliente y sin ataduras a ningún proveedor.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703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en marcha · tests automatizados · migraciones versionadas y reversibles · zero-trust interno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núcleo gobernado, abierto por los cuatro costados</a:t>
            </a:r>
            <a:endParaRPr lang="en-US" sz="2100" dirty="0"/>
          </a:p>
        </p:txBody>
      </p:sp>
      <p:pic>
        <p:nvPicPr>
          <p:cNvPr id="5" name="Image 0" descr="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555" y="1051560"/>
            <a:ext cx="6104890" cy="38221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IMPORTA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por capas: cada pieza es independiente y reemplazable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3749040" cy="548640"/>
          </a:xfrm>
          <a:prstGeom prst="rect">
            <a:avLst/>
          </a:prstGeom>
          <a:solidFill>
            <a:srgbClr val="3D5A77"/>
          </a:solidFill>
          <a:ln/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3898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  </a:t>
            </a:r>
            <a:pPr indent="0" marL="0">
              <a:buNone/>
            </a:pPr>
            <a:r>
              <a:rPr lang="en-US" sz="1050" dirty="0">
                <a:solidFill>
                  <a:srgbClr val="B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SPA · RBAC en interfaz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34840" y="13898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lógica crítica en el navegador: la seguridad no depende del cliente.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3749040" cy="548640"/>
          </a:xfrm>
          <a:prstGeom prst="rect">
            <a:avLst/>
          </a:prstGeom>
          <a:solidFill>
            <a:srgbClr val="31566F"/>
          </a:solidFill>
          <a:ln/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20482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  </a:t>
            </a:r>
            <a:pPr indent="0" marL="0">
              <a:buNone/>
            </a:pPr>
            <a:r>
              <a:rPr lang="en-US" sz="1050" dirty="0">
                <a:solidFill>
                  <a:srgbClr val="B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· TLS · rate limiting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0482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punto de entrada vigilado. Seguridad perimetral de serie.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706624"/>
            <a:ext cx="3749040" cy="548640"/>
          </a:xfrm>
          <a:prstGeom prst="rect">
            <a:avLst/>
          </a:prstGeom>
          <a:solidFill>
            <a:srgbClr val="275268"/>
          </a:solidFill>
          <a:ln/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270662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  </a:t>
            </a:r>
            <a:pPr indent="0" marL="0">
              <a:buNone/>
            </a:pPr>
            <a:r>
              <a:rPr lang="en-US" sz="1050" dirty="0">
                <a:solidFill>
                  <a:srgbClr val="B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 · stateless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2706624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estado: se multiplican instancias bajo demanda, sin reescribir nada.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3749040" cy="548640"/>
          </a:xfrm>
          <a:prstGeom prst="rect">
            <a:avLst/>
          </a:prstGeom>
          <a:solidFill>
            <a:srgbClr val="1D4E60"/>
          </a:solidFill>
          <a:ln/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33649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   </a:t>
            </a:r>
            <a:pPr indent="0" marL="0">
              <a:buNone/>
            </a:pPr>
            <a:r>
              <a:rPr lang="en-US" sz="1050" dirty="0">
                <a:solidFill>
                  <a:srgbClr val="B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Router-AI · DAL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336499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proveedor de IA o de base de datos sin tocar el núcleo.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3749040" cy="548640"/>
          </a:xfrm>
          <a:prstGeom prst="rect">
            <a:avLst/>
          </a:prstGeom>
          <a:solidFill>
            <a:srgbClr val="134A59"/>
          </a:solidFill>
          <a:ln/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" y="4023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 infraestructura   </a:t>
            </a:r>
            <a:pPr indent="0" marL="0">
              <a:buNone/>
            </a:pPr>
            <a:r>
              <a:rPr lang="en-US" sz="1050" dirty="0">
                <a:solidFill>
                  <a:srgbClr val="B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· S3 · workers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34840" y="40233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verdad única, colas asíncronas y almacenamiento gobernado.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DECISIÓN ESTRATÉGICA Nº1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Router-AI: libertad total de proveedor de 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capa de abstracción separa el núcleo de los modelos. Hoy OpenAI, mañana Anthropic, pasado un modelo local. El cliente elige; la plataforma no cambia.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291840" cy="260604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148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PROVEEDORES SOPORTADOS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251460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16324B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14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30552" y="251460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16324B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25146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" y="3136392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16324B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13639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30552" y="3136392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16324B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0552" y="313639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758184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16324B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7581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30552" y="3758184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16324B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0552" y="37581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2075688"/>
            <a:ext cx="457200" cy="45720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2524" y="2199132"/>
            <a:ext cx="210312" cy="21031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709160" y="1965960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de negociación
</a:t>
            </a:r>
            <a:pPr indent="0" marL="0">
              <a:buNone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proveedor sube precios, se cambia de modelo sin reescribir nada.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069080" y="2971800"/>
            <a:ext cx="457200" cy="45720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524" y="3095244"/>
            <a:ext cx="210312" cy="21031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709160" y="2862072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casa
</a:t>
            </a:r>
            <a:pPr indent="0" marL="0">
              <a:buNone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locales (Ollama) para clientes que no pueden sacar datos: banca, salud, sector público.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4069080" y="3867912"/>
            <a:ext cx="457200" cy="45720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524" y="3991356"/>
            <a:ext cx="210312" cy="21031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09160" y="3758184"/>
            <a:ext cx="3977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inteligente
</a:t>
            </a:r>
            <a:pPr indent="0" marL="0">
              <a:buNone/>
            </a:pPr>
            <a:r>
              <a:rPr lang="en-US" sz="11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prompt puede ir al modelo óptimo por coste, latencia o capacidad.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DECISIÓN ESTRATÉGICA Nº2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 se adapta a la empresa, no al revés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69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677924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DAL · datos corporativos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85800" y="210312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abstracción multi-DBMS: los prompts consultan las bases de datos que el cliente ya tiene, de forma gobernada.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" y="299923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DF3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99923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920240" y="299923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DF3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20240" y="299923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54680" y="299923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DF3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54680" y="299923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5800" y="354787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DF3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54787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920240" y="354787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DF3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20240" y="354787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154680" y="354787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DF3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54680" y="354787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54880" y="1371600"/>
            <a:ext cx="4069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983480" y="1554480"/>
            <a:ext cx="457200" cy="45720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924" y="1677924"/>
            <a:ext cx="210312" cy="21031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57784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Conectores · sistemas en uso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4983480" y="210312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plugins: los resultados llegan solos a las herramientas donde la empresa ya trabaja.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983480" y="299923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DF3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83480" y="299923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217920" y="299923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DF3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217920" y="299923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7452360" y="299923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DF3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452360" y="299923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983480" y="354787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DF3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83480" y="354787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217920" y="354787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DF3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217920" y="354787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ad-hoc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7452360" y="3547872"/>
            <a:ext cx="1143000" cy="438912"/>
          </a:xfrm>
          <a:prstGeom prst="roundRect">
            <a:avLst>
              <a:gd name="adj" fmla="val 14583"/>
            </a:avLst>
          </a:prstGeom>
          <a:solidFill>
            <a:srgbClr val="EDF3FA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452360" y="354787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externas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457200" y="44439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9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venta enterprise, “funciona con lo que ya tenéis” elimina la objeción más cara: el proyecto de integración.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ESCALABILIDAD Y RESILIENCIA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es un monolito rígido: crece con el despliegue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90472"/>
            <a:ext cx="457200" cy="45720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" y="1613916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horizontal
</a:t>
            </a:r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sin estado: más carga = más instancias, sin rediseño.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245516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258568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asíncrono
</a:t>
            </a:r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 y workers (Celery + Redis): un proceso pesado nunca bloquea la API.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172968"/>
            <a:ext cx="457200" cy="45720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3296412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099816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de fallos
</a:t>
            </a:r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Confluence cae, la ejecución sigue. Cada conector falla solo.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4014216"/>
            <a:ext cx="457200" cy="45720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" y="4137660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3941064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preparados
</a:t>
            </a:r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réplicas de lectura y particionado para volúmenes enterprise.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709160" y="14447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MISMO PRODUCTO, CUATRO TAMAÑOS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709160" y="4041648"/>
            <a:ext cx="2331720" cy="640080"/>
          </a:xfrm>
          <a:prstGeom prst="rect">
            <a:avLst/>
          </a:prstGeom>
          <a:solidFill>
            <a:srgbClr val="134A59"/>
          </a:solidFill>
          <a:ln/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4892040" y="404164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  </a:t>
            </a:r>
            <a:pPr indent="0" marL="0">
              <a:buNone/>
            </a:pPr>
            <a:r>
              <a:rPr lang="en-US" sz="1000" dirty="0">
                <a:solidFill>
                  <a:srgbClr val="B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un servidor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709160" y="3328416"/>
            <a:ext cx="2880360" cy="640080"/>
          </a:xfrm>
          <a:prstGeom prst="rect">
            <a:avLst/>
          </a:prstGeom>
          <a:solidFill>
            <a:srgbClr val="1D4E60"/>
          </a:solidFill>
          <a:ln/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4892040" y="332841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  </a:t>
            </a:r>
            <a:pPr indent="0" marL="0">
              <a:buNone/>
            </a:pPr>
            <a:r>
              <a:rPr lang="en-US" sz="1000" dirty="0">
                <a:solidFill>
                  <a:srgbClr val="B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· autoescalado (HPA)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709160" y="2615184"/>
            <a:ext cx="3429000" cy="640080"/>
          </a:xfrm>
          <a:prstGeom prst="rect">
            <a:avLst/>
          </a:prstGeom>
          <a:solidFill>
            <a:srgbClr val="275268"/>
          </a:solidFill>
          <a:ln/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4892040" y="261518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escala   </a:t>
            </a:r>
            <a:pPr indent="0" marL="0">
              <a:buNone/>
            </a:pPr>
            <a:r>
              <a:rPr lang="en-US" sz="1000" dirty="0">
                <a:solidFill>
                  <a:srgbClr val="B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· Kafka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709160" y="1901952"/>
            <a:ext cx="3977640" cy="640080"/>
          </a:xfrm>
          <a:prstGeom prst="rect">
            <a:avLst/>
          </a:prstGeom>
          <a:solidFill>
            <a:srgbClr val="31566F"/>
          </a:solidFill>
          <a:ln/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4892040" y="190195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  </a:t>
            </a:r>
            <a:pPr indent="0" marL="0">
              <a:buNone/>
            </a:pPr>
            <a:r>
              <a:rPr lang="en-US" sz="1000" dirty="0">
                <a:solidFill>
                  <a:srgbClr val="B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· SaaS corporativo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Defensa en profundidad: cinco capas antes de tocar un dato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502920" cy="54864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898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1389888"/>
            <a:ext cx="5120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3898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y rate limiting  —  </a:t>
            </a:r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tráfico cifrado y vigilado en el perímetro.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502920" cy="54864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482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0120" y="2048256"/>
            <a:ext cx="5120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04825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· JWT  —  </a:t>
            </a:r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verificada en cada petición, sin sesiones débiles.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502920" cy="54864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0662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" y="2706624"/>
            <a:ext cx="5120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27066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ABAC  —  </a:t>
            </a:r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por rol y por atributo: cada uno ve solo lo suyo.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502920" cy="54864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649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120" y="3364992"/>
            <a:ext cx="5120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33649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prompts aprobados  —  </a:t>
            </a:r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inyectar instrucciones libres al modelo: la clase entera de ataques por prompt injection desaparece.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502920" cy="54864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23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120" y="4023360"/>
            <a:ext cx="5120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023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AES-256 + trace_id  —  </a:t>
            </a:r>
            <a:pPr indent="0" marL="0">
              <a:buNone/>
            </a:pPr>
            <a:r>
              <a:rPr lang="en-US" sz="10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cifrados en reposo y cada operación correlacionada de punta a punta para auditoría.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1389888"/>
            <a:ext cx="2331720" cy="3182112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1645920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537960" y="2240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Listo para la conversación con compliance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565392" y="301752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ejecutó qué, cuándo, con qué versión y qué respondió el modelo: trazado al 100%. Es el argumento que abre la puerta de banca, salud y sector público.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ES UN PROTOTIPO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Construido con disciplina de ingeniería, no con prisas de demo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700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627632"/>
            <a:ext cx="420624" cy="420624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360" y="1741200"/>
            <a:ext cx="193487" cy="1934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627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Tests automatizados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215798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se valida en cada cambio, con base de datos real y aislamiento por test.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10128" y="1463040"/>
            <a:ext cx="26700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627632"/>
            <a:ext cx="420624" cy="420624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288" y="1741200"/>
            <a:ext cx="193487" cy="1934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68496" y="1627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Migraciones reversibles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93008" y="215798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cambio toca la base de datos sin revisión humana, y todo cambio tiene marcha atrás.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63056" y="1463040"/>
            <a:ext cx="26700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27648" y="1627632"/>
            <a:ext cx="420624" cy="420624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216" y="1741200"/>
            <a:ext cx="193487" cy="1934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21424" y="1627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Privilegios mínimos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45936" y="215798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no puede alterar el esquema ni queriendo: la propia base de datos se lo impide.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063240"/>
            <a:ext cx="26700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1792" y="3227832"/>
            <a:ext cx="420624" cy="420624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60" y="3341400"/>
            <a:ext cx="193487" cy="1934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15568" y="32278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injection imposible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40080" y="375818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única capa accede a datos, siempre con consultas parametrizadas. Es estructural, no una promesa.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310128" y="3063240"/>
            <a:ext cx="26700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74720" y="3227832"/>
            <a:ext cx="420624" cy="420624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288" y="3341400"/>
            <a:ext cx="193487" cy="19348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68496" y="32278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Zero-trust interno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3493008" y="375818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se autentican entre sí con mTLS: ni siquiera la red interna se da por confiable.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163056" y="3063240"/>
            <a:ext cx="2670048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327648" y="3227832"/>
            <a:ext cx="420624" cy="420624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216" y="3341400"/>
            <a:ext cx="193487" cy="19348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21424" y="32278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Portabilidad verificada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345936" y="375818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 portables entre motores, vigilados por tests anti-regresión automáticos.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Evolución incremental: valor en cada fase, sin big-bang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7863840" cy="0"/>
          </a:xfrm>
          <a:prstGeom prst="line">
            <a:avLst/>
          </a:prstGeom>
          <a:noFill/>
          <a:ln w="25400">
            <a:solidFill>
              <a:srgbClr val="D9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3312" y="1527048"/>
            <a:ext cx="201168" cy="201168"/>
          </a:xfrm>
          <a:prstGeom prst="ellipse">
            <a:avLst/>
          </a:prstGeom>
          <a:solidFill>
            <a:srgbClr val="0E988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74520"/>
            <a:ext cx="1984248" cy="269748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 · MVP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construcción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2615184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operativo (PostgreSQL)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versionado de prompts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Router-AI (primer proveedor)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conector: Confluence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1527048"/>
            <a:ext cx="201168" cy="201168"/>
          </a:xfrm>
          <a:prstGeom prst="ellipse">
            <a:avLst/>
          </a:prstGeom>
          <a:solidFill>
            <a:srgbClr val="B9CCE0"/>
          </a:solidFill>
          <a:ln/>
        </p:spPr>
      </p:sp>
      <p:sp>
        <p:nvSpPr>
          <p:cNvPr id="13" name="Shape 11"/>
          <p:cNvSpPr/>
          <p:nvPr/>
        </p:nvSpPr>
        <p:spPr>
          <a:xfrm>
            <a:off x="2624328" y="1874520"/>
            <a:ext cx="198424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8920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completa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07208" y="2615184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aprobación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ASR (workers)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DAL: Oracle, SQL Server…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y dashboard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87568" y="1527048"/>
            <a:ext cx="201168" cy="201168"/>
          </a:xfrm>
          <a:prstGeom prst="ellipse">
            <a:avLst/>
          </a:prstGeom>
          <a:solidFill>
            <a:srgbClr val="B9CCE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91456" y="1874520"/>
            <a:ext cx="198424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56048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enterprise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74336" y="2615184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autoescalado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(Kafka)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de PII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de prompts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54696" y="1527048"/>
            <a:ext cx="201168" cy="201168"/>
          </a:xfrm>
          <a:prstGeom prst="ellipse">
            <a:avLst/>
          </a:prstGeom>
          <a:solidFill>
            <a:srgbClr val="B9CCE0"/>
          </a:solidFill>
          <a:ln/>
        </p:spPr>
      </p:sp>
      <p:sp>
        <p:nvSpPr>
          <p:cNvPr id="23" name="Shape 21"/>
          <p:cNvSpPr/>
          <p:nvPr/>
        </p:nvSpPr>
        <p:spPr>
          <a:xfrm>
            <a:off x="6958584" y="1874520"/>
            <a:ext cx="198424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F0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23176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4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23176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41464" y="2615184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(SaaS)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inteligente de LLMs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golden prompts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avanzada (OLAP)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AHORA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ventana de oportunidad está abierta hoy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70048" cy="2926080"/>
          </a:xfrm>
          <a:prstGeom prst="rect">
            <a:avLst/>
          </a:prstGeom>
          <a:solidFill>
            <a:srgbClr val="13283F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10512"/>
            <a:ext cx="548640" cy="548640"/>
          </a:xfrm>
          <a:prstGeom prst="ellipse">
            <a:avLst/>
          </a:prstGeom>
          <a:solidFill>
            <a:srgbClr val="0E2A33"/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476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4871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Adopción masiva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5800" y="28346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empresa mediana o grande ya usa IA generativa. El gasto crece, el control no. El dolor que resuelve Vellum existe hoy en cada cliente potencial.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0128" y="1554480"/>
            <a:ext cx="2670048" cy="2926080"/>
          </a:xfrm>
          <a:prstGeom prst="rect">
            <a:avLst/>
          </a:prstGeom>
          <a:solidFill>
            <a:srgbClr val="13283F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38728" y="1810512"/>
            <a:ext cx="548640" cy="548640"/>
          </a:xfrm>
          <a:prstGeom prst="ellipse">
            <a:avLst/>
          </a:prstGeom>
          <a:solidFill>
            <a:srgbClr val="0E2A33"/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19476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24871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Presión regulatoria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538728" y="28346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AI Act europeo ya está en vigor y exige trazabilidad y gestión de riesgos en el uso de IA. La auditoría deja de ser opcional: es obligación legal.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63056" y="1554480"/>
            <a:ext cx="2670048" cy="2926080"/>
          </a:xfrm>
          <a:prstGeom prst="rect">
            <a:avLst/>
          </a:prstGeom>
          <a:solidFill>
            <a:srgbClr val="13283F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91656" y="1810512"/>
            <a:ext cx="548640" cy="548640"/>
          </a:xfrm>
          <a:prstGeom prst="ellipse">
            <a:avLst/>
          </a:prstGeom>
          <a:solidFill>
            <a:srgbClr val="0E2A33"/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194767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1656" y="24871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Hueco de mercado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391656" y="28346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grandes plataformas venden modelos; casi nadie vende gobernanza del uso. El que llegue primero con una solución integrable se queda la categoría.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EC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VELLUM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0E9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PROPUESTA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5852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 y distribución: las dos mitades del mismo negocio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749040" cy="2606040"/>
          </a:xfrm>
          <a:prstGeom prst="rect">
            <a:avLst/>
          </a:prstGeom>
          <a:solidFill>
            <a:srgbClr val="0F2A43"/>
          </a:solidFill>
          <a:ln/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572768"/>
            <a:ext cx="457200" cy="457200"/>
          </a:xfrm>
          <a:prstGeom prst="ellipse">
            <a:avLst/>
          </a:prstGeom>
          <a:solidFill>
            <a:srgbClr val="16324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696212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ya está construido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2212848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definido y documentado de punta a punta</a:t>
            </a:r>
            <a:endParaRPr lang="en-US" sz="11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enterprise: capas, escalado, seguridad</a:t>
            </a:r>
            <a:endParaRPr lang="en-US" sz="11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en marcha con roadmap claro de 4 fases</a:t>
            </a:r>
            <a:endParaRPr lang="en-US" sz="11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técnica: quién lo construye y lo sostiene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937760" y="1371600"/>
            <a:ext cx="37490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9888"/>
            </a:solidFill>
            <a:prstDash val="solid"/>
          </a:ln>
          <a:effectLst>
            <a:outerShdw sx="100000" sy="100000" kx="0" ky="0" algn="bl" rotWithShape="0" blurRad="88900" dist="25400" dir="8100000">
              <a:srgbClr val="1B3A5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93792" y="1572768"/>
            <a:ext cx="457200" cy="457200"/>
          </a:xfrm>
          <a:prstGeom prst="ellipse">
            <a:avLst/>
          </a:prstGeom>
          <a:solidFill>
            <a:srgbClr val="E2F1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236" y="1696212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0644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tú puedes aportar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257800" y="2212848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contactos en empresas que ya sufren este problema</a:t>
            </a:r>
            <a:endParaRPr lang="en-US" sz="11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comercial para abrir y cerrar oportunidades</a:t>
            </a:r>
            <a:endParaRPr lang="en-US" sz="11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Olfato de mercado: qué casos de uso priorizar</a:t>
            </a:r>
            <a:endParaRPr lang="en-US" sz="11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460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Credibilidad ante los primeros clientes piloto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315968" y="2414016"/>
            <a:ext cx="512064" cy="512064"/>
          </a:xfrm>
          <a:prstGeom prst="ellipse">
            <a:avLst/>
          </a:prstGeom>
          <a:solidFill>
            <a:srgbClr val="0E9888"/>
          </a:solidFill>
          <a:ln/>
        </p:spPr>
      </p:sp>
      <p:sp>
        <p:nvSpPr>
          <p:cNvPr id="17" name="Text 13"/>
          <p:cNvSpPr/>
          <p:nvPr/>
        </p:nvSpPr>
        <p:spPr>
          <a:xfrm>
            <a:off x="4315968" y="2386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E9F5F2"/>
          </a:solidFill>
          <a:ln w="12700">
            <a:solidFill>
              <a:srgbClr val="BFE0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42062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gran producto sin distribución no llega. Una gran red sin producto no dura. Juntos, sí hay negocio.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108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Construyamos esto juntos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para arrancar sin compromiso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2606040" cy="1783080"/>
          </a:xfrm>
          <a:prstGeom prst="rect">
            <a:avLst/>
          </a:prstGeom>
          <a:solidFill>
            <a:srgbClr val="13283F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95528" y="3090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en vivo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" y="34015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la plataforma funcionando sobre un caso real: de la reunión a la minuta.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2377440"/>
            <a:ext cx="2606040" cy="1783080"/>
          </a:xfrm>
          <a:prstGeom prst="rect">
            <a:avLst/>
          </a:prstGeom>
          <a:solidFill>
            <a:srgbClr val="13283F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84448" y="3090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 o tres pilotos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84448" y="34015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de tu red las empresas con el dolor más claro y validar con ellas.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2377440"/>
            <a:ext cx="2606040" cy="1783080"/>
          </a:xfrm>
          <a:prstGeom prst="rect">
            <a:avLst/>
          </a:prstGeom>
          <a:solidFill>
            <a:srgbClr val="13283F"/>
          </a:solidFill>
          <a:ln w="12700">
            <a:solidFill>
              <a:srgbClr val="2A50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73368" y="30906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 sociedad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73368" y="34015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roles, dedicación y participación con números sobre la mesa.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VELLUM  ·  Jimmy Pimiento  ·  jpimiento@latinia.com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Vellum — Plataforma de gobernanza de IA corporativa</dc:title>
  <dc:subject>PptxGenJS Presentation</dc:subject>
  <dc:creator>Jimmy Pimiento</dc:creator>
  <cp:lastModifiedBy>Jimmy Pimiento</cp:lastModifiedBy>
  <cp:revision>1</cp:revision>
  <dcterms:created xsi:type="dcterms:W3CDTF">2026-06-11T13:12:24Z</dcterms:created>
  <dcterms:modified xsi:type="dcterms:W3CDTF">2026-06-11T13:12:24Z</dcterms:modified>
</cp:coreProperties>
</file>